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653"/>
  </p:normalViewPr>
  <p:slideViewPr>
    <p:cSldViewPr snapToGrid="0" snapToObjects="1">
      <p:cViewPr varScale="1">
        <p:scale>
          <a:sx n="88" d="100"/>
          <a:sy n="88" d="100"/>
        </p:scale>
        <p:origin x="176" y="7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Rating promedio</c:v>
                </c:pt>
              </c:strCache>
            </c:strRef>
          </c:tx>
          <c:spPr>
            <a:solidFill>
              <a:srgbClr val="34A853"/>
            </a:solidFill>
          </c:spPr>
          <c:invertIfNegative val="1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>
                    <a:solidFill>
                      <a:srgbClr val="37474F"/>
                    </a:solidFill>
                  </a:defRPr>
                </a:pPr>
                <a:endParaRPr lang="en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PERSONALIZATION</c:v>
                </c:pt>
                <c:pt idx="1">
                  <c:v>GAME</c:v>
                </c:pt>
                <c:pt idx="2">
                  <c:v>SPORTS</c:v>
                </c:pt>
                <c:pt idx="3">
                  <c:v>FAMILY</c:v>
                </c:pt>
                <c:pt idx="4">
                  <c:v>PRODUCTIVITY</c:v>
                </c:pt>
                <c:pt idx="5">
                  <c:v>MEDICAL</c:v>
                </c:pt>
                <c:pt idx="6">
                  <c:v>FINANCE</c:v>
                </c:pt>
                <c:pt idx="7">
                  <c:v>BUSINESS</c:v>
                </c:pt>
                <c:pt idx="8">
                  <c:v>LIFESTYLE</c:v>
                </c:pt>
                <c:pt idx="9">
                  <c:v>TOOLS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4.33</c:v>
                </c:pt>
                <c:pt idx="1">
                  <c:v>4.24</c:v>
                </c:pt>
                <c:pt idx="2">
                  <c:v>4.22</c:v>
                </c:pt>
                <c:pt idx="3">
                  <c:v>4.18</c:v>
                </c:pt>
                <c:pt idx="4">
                  <c:v>4.18</c:v>
                </c:pt>
                <c:pt idx="5">
                  <c:v>4.17</c:v>
                </c:pt>
                <c:pt idx="6">
                  <c:v>4.12</c:v>
                </c:pt>
                <c:pt idx="7">
                  <c:v>4.0999999999999996</c:v>
                </c:pt>
                <c:pt idx="8">
                  <c:v>4.09</c:v>
                </c:pt>
                <c:pt idx="9">
                  <c:v>4.04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B32D-4B49-989D-C52676D0B46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D0D0D0"/>
            </a:solidFill>
          </a:ln>
        </c:spPr>
        <c:txPr>
          <a:bodyPr/>
          <a:lstStyle/>
          <a:p>
            <a:pPr>
              <a:defRPr sz="1000">
                <a:solidFill>
                  <a:srgbClr val="37474F"/>
                </a:solidFill>
              </a:defRPr>
            </a:pPr>
            <a:endParaRPr lang="en-CO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4.5"/>
          <c:min val="3.8"/>
        </c:scaling>
        <c:delete val="0"/>
        <c:axPos val="b"/>
        <c:majorGridlines>
          <c:spPr>
            <a:ln>
              <a:solidFill>
                <a:srgbClr val="E8E8E8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37474F"/>
                </a:solidFill>
              </a:defRPr>
            </a:pPr>
            <a:endParaRPr lang="en-CO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331720"/>
            <a:ext cx="1051560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Cambria"/>
              </a:rPr>
              <a:t>Google Play Store: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Cambria"/>
              </a:rPr>
              <a:t>Radiografía de un mercado desigual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77639"/>
            <a:ext cx="9601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1">
                <a:solidFill>
                  <a:srgbClr val="CADCFC"/>
                </a:solidFill>
                <a:latin typeface="Calibri"/>
              </a:rPr>
              <a:t>Selección, limpieza, análisis estadístico y modelo predictivo sobre datos reales de apps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06440"/>
            <a:ext cx="82296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 dirty="0">
                <a:solidFill>
                  <a:srgbClr val="FFFFFF"/>
                </a:solidFill>
                <a:latin typeface="Calibri"/>
              </a:rPr>
              <a:t>Elen Zawady  ·  </a:t>
            </a:r>
            <a:r>
              <a:rPr lang="es-419" sz="1400" b="1" i="0" dirty="0">
                <a:solidFill>
                  <a:srgbClr val="FFFFFF"/>
                </a:solidFill>
                <a:latin typeface="Calibri"/>
              </a:rPr>
              <a:t>Maicol Gomez </a:t>
            </a:r>
            <a:r>
              <a:rPr sz="1400" b="1" i="0" dirty="0">
                <a:solidFill>
                  <a:srgbClr val="FFFFFF"/>
                </a:solidFill>
                <a:latin typeface="Calibri"/>
              </a:rPr>
              <a:t>·  </a:t>
            </a:r>
            <a:r>
              <a:rPr lang="es-419" sz="1400" b="1" i="0" dirty="0">
                <a:solidFill>
                  <a:srgbClr val="FFFFFF"/>
                </a:solidFill>
                <a:latin typeface="Calibri"/>
              </a:rPr>
              <a:t>Daniela Salcedo</a:t>
            </a:r>
            <a:endParaRPr sz="14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617220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B0BEE8"/>
                </a:solidFill>
                <a:latin typeface="Calibri"/>
              </a:rPr>
              <a:t>Data Experience — Ingeniería de Sistemas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1A237E"/>
                </a:solidFill>
                <a:latin typeface="Cambria"/>
              </a:rPr>
              <a:t>Tres fases, una sola historia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37360"/>
            <a:ext cx="3429000" cy="3840480"/>
          </a:xfrm>
          <a:prstGeom prst="roundRect">
            <a:avLst>
              <a:gd name="adj" fmla="val 6000"/>
            </a:avLst>
          </a:prstGeom>
          <a:solidFill>
            <a:srgbClr val="F2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43000" y="2057400"/>
            <a:ext cx="685800" cy="685800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971800"/>
            <a:ext cx="27889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00" b="1" i="0">
                <a:solidFill>
                  <a:srgbClr val="1A237E"/>
                </a:solidFill>
                <a:latin typeface="Cambria"/>
              </a:rPr>
              <a:t>Selección, exploración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00" b="1" i="0">
                <a:solidFill>
                  <a:srgbClr val="1A237E"/>
                </a:solidFill>
                <a:latin typeface="Cambria"/>
              </a:rPr>
              <a:t>y preparación de datos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114800"/>
            <a:ext cx="278892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6B7280"/>
                </a:solidFill>
                <a:latin typeface="Calibri"/>
              </a:rPr>
              <a:t>Dataset real, problemas detectados y limpieza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737360"/>
            <a:ext cx="3429000" cy="3840480"/>
          </a:xfrm>
          <a:prstGeom prst="roundRect">
            <a:avLst>
              <a:gd name="adj" fmla="val 6000"/>
            </a:avLst>
          </a:prstGeom>
          <a:solidFill>
            <a:srgbClr val="F2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4892040" y="2057400"/>
            <a:ext cx="685800" cy="685800"/>
          </a:xfrm>
          <a:prstGeom prst="ellipse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2971800"/>
            <a:ext cx="27889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00" b="1" i="0">
                <a:solidFill>
                  <a:srgbClr val="1A237E"/>
                </a:solidFill>
                <a:latin typeface="Cambria"/>
              </a:rPr>
              <a:t>Análisis estadístico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4114800"/>
            <a:ext cx="278892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6B7280"/>
                </a:solidFill>
                <a:latin typeface="Calibri"/>
              </a:rPr>
              <a:t>Tendencia central, dispersión y outliers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737360"/>
            <a:ext cx="3429000" cy="3840480"/>
          </a:xfrm>
          <a:prstGeom prst="roundRect">
            <a:avLst>
              <a:gd name="adj" fmla="val 6000"/>
            </a:avLst>
          </a:prstGeom>
          <a:solidFill>
            <a:srgbClr val="F2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641080" y="2057400"/>
            <a:ext cx="685800" cy="685800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41080" y="2971800"/>
            <a:ext cx="27889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00" b="1" i="0">
                <a:solidFill>
                  <a:srgbClr val="1A237E"/>
                </a:solidFill>
                <a:latin typeface="Cambria"/>
              </a:rPr>
              <a:t>Visualización, storytelling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00" b="1" i="0">
                <a:solidFill>
                  <a:srgbClr val="1A237E"/>
                </a:solidFill>
                <a:latin typeface="Cambria"/>
              </a:rPr>
              <a:t>y modelo predictivo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1080" y="4114800"/>
            <a:ext cx="278892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6B7280"/>
                </a:solidFill>
                <a:latin typeface="Calibri"/>
              </a:rPr>
              <a:t>Gráficos, regresión lineal y aplicación profesional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34A853"/>
                </a:solidFill>
                <a:latin typeface="Calibri"/>
              </a:rPr>
              <a:t>FASE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A237E"/>
                </a:solidFill>
                <a:latin typeface="Cambria"/>
              </a:rPr>
              <a:t>¿Por qué Google Play Store?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5120640" cy="4023360"/>
          </a:xfrm>
          <a:prstGeom prst="roundRect">
            <a:avLst>
              <a:gd name="adj" fmla="val 6000"/>
            </a:avLst>
          </a:prstGeom>
          <a:solidFill>
            <a:srgbClr val="F2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201168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A237E"/>
                </a:solidFill>
                <a:latin typeface="Cambria"/>
              </a:rPr>
              <a:t>El dataset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514600"/>
            <a:ext cx="4480560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lnSpc>
                <a:spcPct val="105000"/>
              </a:lnSpc>
              <a:spcAft>
                <a:spcPts val="1400"/>
              </a:spcAft>
              <a:buClr>
                <a:srgbClr val="34A853"/>
              </a:buClr>
              <a:buFont typeface="Arial"/>
              <a:buChar char="●"/>
            </a:pPr>
            <a:r>
              <a:rPr sz="1500">
                <a:solidFill>
                  <a:srgbClr val="37474F"/>
                </a:solidFill>
                <a:latin typeface="Calibri"/>
              </a:rPr>
              <a:t>Google Play Store Apps (Kaggle)</a:t>
            </a:r>
          </a:p>
          <a:p>
            <a:pPr marL="228600" indent="-228600" algn="l">
              <a:lnSpc>
                <a:spcPct val="105000"/>
              </a:lnSpc>
              <a:spcAft>
                <a:spcPts val="1400"/>
              </a:spcAft>
              <a:buClr>
                <a:srgbClr val="34A853"/>
              </a:buClr>
              <a:buFont typeface="Arial"/>
              <a:buChar char="●"/>
            </a:pPr>
            <a:r>
              <a:rPr sz="1500">
                <a:solidFill>
                  <a:srgbClr val="37474F"/>
                </a:solidFill>
                <a:latin typeface="Calibri"/>
              </a:rPr>
              <a:t>10,841 apps · 13 columnas</a:t>
            </a:r>
          </a:p>
          <a:p>
            <a:pPr marL="228600" indent="-228600" algn="l">
              <a:lnSpc>
                <a:spcPct val="105000"/>
              </a:lnSpc>
              <a:spcAft>
                <a:spcPts val="1400"/>
              </a:spcAft>
              <a:buClr>
                <a:srgbClr val="34A853"/>
              </a:buClr>
              <a:buFont typeface="Arial"/>
              <a:buChar char="●"/>
            </a:pPr>
            <a:r>
              <a:rPr sz="1500">
                <a:solidFill>
                  <a:srgbClr val="37474F"/>
                </a:solidFill>
                <a:latin typeface="Calibri"/>
              </a:rPr>
              <a:t>Categoría, calificación, reseñas, instalaciones, tamaño, precio, versión de Android</a:t>
            </a:r>
          </a:p>
          <a:p>
            <a:pPr marL="228600" indent="-228600" algn="l">
              <a:lnSpc>
                <a:spcPct val="105000"/>
              </a:lnSpc>
              <a:spcAft>
                <a:spcPts val="1400"/>
              </a:spcAft>
              <a:buClr>
                <a:srgbClr val="34A853"/>
              </a:buClr>
              <a:buFont typeface="Arial"/>
              <a:buChar char="●"/>
            </a:pPr>
            <a:r>
              <a:rPr sz="1500">
                <a:solidFill>
                  <a:srgbClr val="37474F"/>
                </a:solidFill>
                <a:latin typeface="Calibri"/>
              </a:rPr>
              <a:t>Dataset real y público, no simulado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83080"/>
            <a:ext cx="5120640" cy="4023360"/>
          </a:xfrm>
          <a:prstGeom prst="roundRect">
            <a:avLst>
              <a:gd name="adj" fmla="val 6000"/>
            </a:avLst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37960" y="201168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Justificación profesional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514600"/>
            <a:ext cx="4480560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lnSpc>
                <a:spcPct val="105000"/>
              </a:lnSpc>
              <a:spcAft>
                <a:spcPts val="1300"/>
              </a:spcAft>
              <a:buClr>
                <a:srgbClr val="34A853"/>
              </a:buClr>
              <a:buFont typeface="Arial"/>
              <a:buChar char="●"/>
            </a:pPr>
            <a:r>
              <a:rPr sz="1500">
                <a:solidFill>
                  <a:srgbClr val="E3E7F7"/>
                </a:solidFill>
                <a:latin typeface="Calibri"/>
              </a:rPr>
              <a:t>Conecta con el ciclo de vida real del software</a:t>
            </a:r>
          </a:p>
          <a:p>
            <a:pPr marL="228600" indent="-228600" algn="l">
              <a:lnSpc>
                <a:spcPct val="105000"/>
              </a:lnSpc>
              <a:spcAft>
                <a:spcPts val="1300"/>
              </a:spcAft>
              <a:buClr>
                <a:srgbClr val="34A853"/>
              </a:buClr>
              <a:buFont typeface="Arial"/>
              <a:buChar char="●"/>
            </a:pPr>
            <a:r>
              <a:rPr sz="1500">
                <a:solidFill>
                  <a:srgbClr val="E3E7F7"/>
                </a:solidFill>
                <a:latin typeface="Calibri"/>
              </a:rPr>
              <a:t>Calidad de datos en catálogos de apps</a:t>
            </a:r>
          </a:p>
          <a:p>
            <a:pPr marL="228600" indent="-228600" algn="l">
              <a:lnSpc>
                <a:spcPct val="105000"/>
              </a:lnSpc>
              <a:spcAft>
                <a:spcPts val="1300"/>
              </a:spcAft>
              <a:buClr>
                <a:srgbClr val="34A853"/>
              </a:buClr>
              <a:buFont typeface="Arial"/>
              <a:buChar char="●"/>
            </a:pPr>
            <a:r>
              <a:rPr sz="1500">
                <a:solidFill>
                  <a:srgbClr val="E3E7F7"/>
                </a:solidFill>
                <a:latin typeface="Calibri"/>
              </a:rPr>
              <a:t>Modelos de monetización (gratis vs. pagas)</a:t>
            </a:r>
          </a:p>
          <a:p>
            <a:pPr marL="228600" indent="-228600" algn="l">
              <a:lnSpc>
                <a:spcPct val="105000"/>
              </a:lnSpc>
              <a:spcAft>
                <a:spcPts val="1300"/>
              </a:spcAft>
              <a:buClr>
                <a:srgbClr val="34A853"/>
              </a:buClr>
              <a:buFont typeface="Arial"/>
              <a:buChar char="●"/>
            </a:pPr>
            <a:r>
              <a:rPr sz="1500">
                <a:solidFill>
                  <a:srgbClr val="E3E7F7"/>
                </a:solidFill>
                <a:latin typeface="Calibri"/>
              </a:rPr>
              <a:t>Compatibilidad de versiones de Android</a:t>
            </a:r>
          </a:p>
          <a:p>
            <a:pPr marL="228600" indent="-228600" algn="l">
              <a:lnSpc>
                <a:spcPct val="105000"/>
              </a:lnSpc>
              <a:spcAft>
                <a:spcPts val="1300"/>
              </a:spcAft>
              <a:buClr>
                <a:srgbClr val="34A853"/>
              </a:buClr>
              <a:buFont typeface="Arial"/>
              <a:buChar char="●"/>
            </a:pPr>
            <a:r>
              <a:rPr sz="1500">
                <a:solidFill>
                  <a:srgbClr val="E3E7F7"/>
                </a:solidFill>
                <a:latin typeface="Calibri"/>
              </a:rPr>
              <a:t>Comportamiento real de usuarios a escala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34A853"/>
                </a:solidFill>
                <a:latin typeface="Calibri"/>
              </a:rPr>
              <a:t>FASE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A237E"/>
                </a:solidFill>
                <a:latin typeface="Cambria"/>
              </a:rPr>
              <a:t>Lo que encontramos al explorar los datos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1828800"/>
            <a:ext cx="640080" cy="640080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783080"/>
            <a:ext cx="4389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1A237E"/>
                </a:solidFill>
                <a:latin typeface="Cambria"/>
              </a:rPr>
              <a:t>1 fila corrupta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286000"/>
            <a:ext cx="43891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6B7280"/>
                </a:solidFill>
                <a:latin typeface="Calibri"/>
              </a:rPr>
              <a:t>Índice 10472: falta el valor de Categoría y todas las columnas quedaron corridas</a:t>
            </a:r>
          </a:p>
        </p:txBody>
      </p:sp>
      <p:sp>
        <p:nvSpPr>
          <p:cNvPr id="8" name="Oval 7"/>
          <p:cNvSpPr/>
          <p:nvPr/>
        </p:nvSpPr>
        <p:spPr>
          <a:xfrm>
            <a:off x="6217920" y="1828800"/>
            <a:ext cx="640080" cy="640080"/>
          </a:xfrm>
          <a:prstGeom prst="ellipse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=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1783080"/>
            <a:ext cx="4389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1A237E"/>
                </a:solidFill>
                <a:latin typeface="Cambria"/>
              </a:rPr>
              <a:t>483 duplicados exactos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2286000"/>
            <a:ext cx="43891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6B7280"/>
                </a:solidFill>
                <a:latin typeface="Calibri"/>
              </a:rPr>
              <a:t>+ 1,181 apps con el nombre repetido en distintas filas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3977640"/>
            <a:ext cx="640080" cy="640080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931920"/>
            <a:ext cx="4389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1A237E"/>
                </a:solidFill>
                <a:latin typeface="Cambria"/>
              </a:rPr>
              <a:t>1,474 nulos en Rating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434840"/>
            <a:ext cx="43891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6B7280"/>
                </a:solidFill>
                <a:latin typeface="Calibri"/>
              </a:rPr>
              <a:t>Apps sin suficientes calificaciones todavía</a:t>
            </a:r>
          </a:p>
        </p:txBody>
      </p:sp>
      <p:sp>
        <p:nvSpPr>
          <p:cNvPr id="14" name="Oval 13"/>
          <p:cNvSpPr/>
          <p:nvPr/>
        </p:nvSpPr>
        <p:spPr>
          <a:xfrm>
            <a:off x="6217920" y="3977640"/>
            <a:ext cx="640080" cy="640080"/>
          </a:xfrm>
          <a:prstGeom prst="ellipse">
            <a:avLst/>
          </a:prstGeom>
          <a:solidFill>
            <a:srgbClr val="374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Tx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931920"/>
            <a:ext cx="4389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1A237E"/>
                </a:solidFill>
                <a:latin typeface="Cambria"/>
              </a:rPr>
              <a:t>Números guardados como texto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4434840"/>
            <a:ext cx="43891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6B7280"/>
                </a:solidFill>
                <a:latin typeface="Calibri"/>
              </a:rPr>
              <a:t>Installs "10,000+", Price "$4.99", Size "19M" / "Varies with device"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34A853"/>
                </a:solidFill>
                <a:latin typeface="Calibri"/>
              </a:rPr>
              <a:t>FASE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A237E"/>
                </a:solidFill>
                <a:latin typeface="Cambria"/>
              </a:rPr>
              <a:t>Dataset depurado y listo para analizar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11680"/>
            <a:ext cx="338328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2468880"/>
            <a:ext cx="28346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400" b="1" i="0">
                <a:solidFill>
                  <a:srgbClr val="EA4335"/>
                </a:solidFill>
                <a:latin typeface="Cambria"/>
              </a:rPr>
              <a:t>10,841 → 9,659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283464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6B7280"/>
                </a:solidFill>
                <a:latin typeface="Calibri"/>
              </a:rPr>
              <a:t>filas después de limpiar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2011680"/>
            <a:ext cx="338328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54880" y="2468880"/>
            <a:ext cx="28346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400" b="1" i="0">
                <a:solidFill>
                  <a:srgbClr val="1A237E"/>
                </a:solidFill>
                <a:latin typeface="Cambria"/>
              </a:rPr>
              <a:t>483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3657600"/>
            <a:ext cx="283464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6B7280"/>
                </a:solidFill>
                <a:latin typeface="Calibri"/>
              </a:rPr>
              <a:t>duplicados exactos eliminados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2011680"/>
            <a:ext cx="338328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80" y="2468880"/>
            <a:ext cx="28346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400" b="1" i="0">
                <a:solidFill>
                  <a:srgbClr val="34A853"/>
                </a:solidFill>
                <a:latin typeface="Cambria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3657600"/>
            <a:ext cx="283464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6B7280"/>
                </a:solidFill>
                <a:latin typeface="Calibri"/>
              </a:rPr>
              <a:t>columnas convertidas a numéricas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6B7280"/>
                </a:solidFill>
                <a:latin typeface="Calibri"/>
              </a:rPr>
              <a:t>(Installs, Price, Size, Reviews)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623560"/>
            <a:ext cx="10241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1">
                <a:solidFill>
                  <a:srgbClr val="37474F"/>
                </a:solidFill>
                <a:latin typeface="Calibri"/>
              </a:rPr>
              <a:t>Nota: los Rating faltantes NO se rellenaron con un promedio inventado — se documentan como limitación real del dataset.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34A853"/>
                </a:solidFill>
                <a:latin typeface="Calibri"/>
              </a:rPr>
              <a:t>FASE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A237E"/>
                </a:solidFill>
                <a:latin typeface="Cambria"/>
              </a:rPr>
              <a:t>Medidas descriptivas de las variables clave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874519"/>
          <a:ext cx="105156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Variable</a:t>
                      </a:r>
                    </a:p>
                  </a:txBody>
                  <a:tcPr marL="109728" marT="54864" marB="54864" anchor="ctr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Media</a:t>
                      </a:r>
                    </a:p>
                  </a:txBody>
                  <a:tcPr marL="109728" marT="54864" marB="54864" anchor="ctr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Mediana</a:t>
                      </a:r>
                    </a:p>
                  </a:txBody>
                  <a:tcPr marL="109728" marT="54864" marB="54864" anchor="ctr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Moda</a:t>
                      </a:r>
                    </a:p>
                  </a:txBody>
                  <a:tcPr marL="109728" marT="54864" marB="54864" anchor="ctr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Desv. estándar</a:t>
                      </a:r>
                    </a:p>
                  </a:txBody>
                  <a:tcPr marL="109728" marT="54864" marB="54864" anchor="ctr">
                    <a:solidFill>
                      <a:srgbClr val="1A23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A237E"/>
                          </a:solidFill>
                          <a:latin typeface="Calibri"/>
                        </a:rPr>
                        <a:t>Rating</a:t>
                      </a:r>
                    </a:p>
                  </a:txBody>
                  <a:tcPr marL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7474F"/>
                          </a:solidFill>
                          <a:latin typeface="Calibri"/>
                        </a:rPr>
                        <a:t>4.17</a:t>
                      </a:r>
                    </a:p>
                  </a:txBody>
                  <a:tcPr marL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7474F"/>
                          </a:solidFill>
                          <a:latin typeface="Calibri"/>
                        </a:rPr>
                        <a:t>4.30</a:t>
                      </a:r>
                    </a:p>
                  </a:txBody>
                  <a:tcPr marL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7474F"/>
                          </a:solidFill>
                          <a:latin typeface="Calibri"/>
                        </a:rPr>
                        <a:t>4.30</a:t>
                      </a:r>
                    </a:p>
                  </a:txBody>
                  <a:tcPr marL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7474F"/>
                          </a:solidFill>
                          <a:latin typeface="Calibri"/>
                        </a:rPr>
                        <a:t>0.54</a:t>
                      </a:r>
                    </a:p>
                  </a:txBody>
                  <a:tcPr marL="109728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A237E"/>
                          </a:solidFill>
                          <a:latin typeface="Calibri"/>
                        </a:rPr>
                        <a:t>Reviews</a:t>
                      </a:r>
                    </a:p>
                  </a:txBody>
                  <a:tcPr marL="109728" marT="54864" marB="54864" anchor="ctr">
                    <a:solidFill>
                      <a:srgbClr val="F2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7474F"/>
                          </a:solidFill>
                          <a:latin typeface="Calibri"/>
                        </a:rPr>
                        <a:t>216,804</a:t>
                      </a:r>
                    </a:p>
                  </a:txBody>
                  <a:tcPr marL="109728" marT="54864" marB="54864" anchor="ctr">
                    <a:solidFill>
                      <a:srgbClr val="F2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7474F"/>
                          </a:solidFill>
                          <a:latin typeface="Calibri"/>
                        </a:rPr>
                        <a:t>969</a:t>
                      </a:r>
                    </a:p>
                  </a:txBody>
                  <a:tcPr marL="109728" marT="54864" marB="54864" anchor="ctr">
                    <a:solidFill>
                      <a:srgbClr val="F2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7474F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109728" marT="54864" marB="54864" anchor="ctr">
                    <a:solidFill>
                      <a:srgbClr val="F2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7474F"/>
                          </a:solidFill>
                          <a:latin typeface="Calibri"/>
                        </a:rPr>
                        <a:t>1,831,430</a:t>
                      </a:r>
                    </a:p>
                  </a:txBody>
                  <a:tcPr marL="109728" marT="54864" marB="54864" anchor="ctr">
                    <a:solidFill>
                      <a:srgbClr val="F2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A237E"/>
                          </a:solidFill>
                          <a:latin typeface="Calibri"/>
                        </a:rPr>
                        <a:t>Installs</a:t>
                      </a:r>
                    </a:p>
                  </a:txBody>
                  <a:tcPr marL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7474F"/>
                          </a:solidFill>
                          <a:latin typeface="Calibri"/>
                        </a:rPr>
                        <a:t>7,798,170</a:t>
                      </a:r>
                    </a:p>
                  </a:txBody>
                  <a:tcPr marL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7474F"/>
                          </a:solidFill>
                          <a:latin typeface="Calibri"/>
                        </a:rPr>
                        <a:t>100,000</a:t>
                      </a:r>
                    </a:p>
                  </a:txBody>
                  <a:tcPr marL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7474F"/>
                          </a:solidFill>
                          <a:latin typeface="Calibri"/>
                        </a:rPr>
                        <a:t>1,000,000</a:t>
                      </a:r>
                    </a:p>
                  </a:txBody>
                  <a:tcPr marL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7474F"/>
                          </a:solidFill>
                          <a:latin typeface="Calibri"/>
                        </a:rPr>
                        <a:t>53,769,729</a:t>
                      </a:r>
                    </a:p>
                  </a:txBody>
                  <a:tcPr marL="109728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A237E"/>
                          </a:solidFill>
                          <a:latin typeface="Calibri"/>
                        </a:rPr>
                        <a:t>Size (MB)</a:t>
                      </a:r>
                    </a:p>
                  </a:txBody>
                  <a:tcPr marL="109728" marT="54864" marB="54864" anchor="ctr">
                    <a:solidFill>
                      <a:srgbClr val="F2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7474F"/>
                          </a:solidFill>
                          <a:latin typeface="Calibri"/>
                        </a:rPr>
                        <a:t>20.4</a:t>
                      </a:r>
                    </a:p>
                  </a:txBody>
                  <a:tcPr marL="109728" marT="54864" marB="54864" anchor="ctr">
                    <a:solidFill>
                      <a:srgbClr val="F2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7474F"/>
                          </a:solidFill>
                          <a:latin typeface="Calibri"/>
                        </a:rPr>
                        <a:t>12.0</a:t>
                      </a:r>
                    </a:p>
                  </a:txBody>
                  <a:tcPr marL="109728" marT="54864" marB="54864" anchor="ctr">
                    <a:solidFill>
                      <a:srgbClr val="F2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7474F"/>
                          </a:solidFill>
                          <a:latin typeface="Calibri"/>
                        </a:rPr>
                        <a:t>11.0</a:t>
                      </a:r>
                    </a:p>
                  </a:txBody>
                  <a:tcPr marL="109728" marT="54864" marB="54864" anchor="ctr">
                    <a:solidFill>
                      <a:srgbClr val="F2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7474F"/>
                          </a:solidFill>
                          <a:latin typeface="Calibri"/>
                        </a:rPr>
                        <a:t>21.8</a:t>
                      </a:r>
                    </a:p>
                  </a:txBody>
                  <a:tcPr marL="109728" marT="54864" marB="54864" anchor="ctr">
                    <a:solidFill>
                      <a:srgbClr val="F2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4617720"/>
            <a:ext cx="1033272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lnSpc>
                <a:spcPct val="105000"/>
              </a:lnSpc>
              <a:spcAft>
                <a:spcPts val="1000"/>
              </a:spcAft>
              <a:buClr>
                <a:srgbClr val="34A853"/>
              </a:buClr>
              <a:buFont typeface="Arial"/>
              <a:buChar char="●"/>
            </a:pPr>
            <a:r>
              <a:rPr sz="1400">
                <a:solidFill>
                  <a:srgbClr val="37474F"/>
                </a:solidFill>
                <a:latin typeface="Calibri"/>
              </a:rPr>
              <a:t>Reviews e Installs: la media es muchísimo mayor que la mediana → pocas apps gigantes (Facebook, WhatsApp) inflan el promedio.</a:t>
            </a:r>
          </a:p>
          <a:p>
            <a:pPr marL="228600" indent="-228600" algn="l">
              <a:lnSpc>
                <a:spcPct val="105000"/>
              </a:lnSpc>
              <a:spcAft>
                <a:spcPts val="1000"/>
              </a:spcAft>
              <a:buClr>
                <a:srgbClr val="34A853"/>
              </a:buClr>
              <a:buFont typeface="Arial"/>
              <a:buChar char="●"/>
            </a:pPr>
            <a:r>
              <a:rPr sz="1400">
                <a:solidFill>
                  <a:srgbClr val="37474F"/>
                </a:solidFill>
                <a:latin typeface="Calibri"/>
              </a:rPr>
              <a:t>Rating: media, mediana y moda casi iguales y baja dispersión → la mayoría de apps califica parecido, entre 4.0 y 4.5.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34A853"/>
                </a:solidFill>
                <a:latin typeface="Calibri"/>
              </a:rPr>
              <a:t>FASE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Cambria"/>
              </a:rPr>
              <a:t>Gratis vs. Pagas: dos mercados distintos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20240"/>
            <a:ext cx="3383280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3383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283AB5"/>
                </a:solidFill>
                <a:latin typeface="Cambria"/>
              </a:rPr>
              <a:t>FREE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43200"/>
            <a:ext cx="33832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4000" b="1" i="0">
                <a:solidFill>
                  <a:srgbClr val="1A237E"/>
                </a:solidFill>
                <a:latin typeface="Cambria"/>
              </a:rPr>
              <a:t>4.17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52044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  <a:latin typeface="Calibri"/>
              </a:rPr>
              <a:t>rating promedio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114800"/>
            <a:ext cx="33832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EA4335"/>
                </a:solidFill>
                <a:latin typeface="Cambria"/>
              </a:rPr>
              <a:t>8.45M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80060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  <a:latin typeface="Calibri"/>
              </a:rPr>
              <a:t>instalaciones promedio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920240"/>
            <a:ext cx="3383280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80560" y="2194560"/>
            <a:ext cx="3383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2E8B57"/>
                </a:solidFill>
                <a:latin typeface="Cambria"/>
              </a:rPr>
              <a:t>PAID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743200"/>
            <a:ext cx="33832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4000" b="1" i="0">
                <a:solidFill>
                  <a:srgbClr val="1A237E"/>
                </a:solidFill>
                <a:latin typeface="Cambria"/>
              </a:rPr>
              <a:t>4.26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352044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  <a:latin typeface="Calibri"/>
              </a:rPr>
              <a:t>rating promedio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4114800"/>
            <a:ext cx="33832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EA4335"/>
                </a:solidFill>
                <a:latin typeface="Cambria"/>
              </a:rPr>
              <a:t>76 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480060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  <a:latin typeface="Calibri"/>
              </a:rPr>
              <a:t>instalaciones promedio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103120"/>
            <a:ext cx="3017520" cy="3566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i="1">
                <a:solidFill>
                  <a:srgbClr val="CADCFC"/>
                </a:solidFill>
                <a:latin typeface="Calibri"/>
              </a:rPr>
              <a:t>Las apps pagas califican levemente mejor, pero las gratuitas dominan por completo el volumen de instalaciones. Pagar es una barrera fuerte para la adopción masiva.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34A853"/>
                </a:solidFill>
                <a:latin typeface="Calibri"/>
              </a:rPr>
              <a:t>FASE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 i="0">
                <a:solidFill>
                  <a:srgbClr val="1A237E"/>
                </a:solidFill>
                <a:latin typeface="Cambria"/>
              </a:rPr>
              <a:t>Rating promedio por categoría (top 10 más pobladas)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822960" y="1783080"/>
          <a:ext cx="1051560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16089"/>
            <a:ext cx="12191695" cy="6858000"/>
          </a:xfrm>
          <a:prstGeom prst="rect">
            <a:avLst/>
          </a:prstGeom>
          <a:solidFill>
            <a:srgbClr val="F2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34A853"/>
                </a:solidFill>
                <a:latin typeface="Calibri"/>
              </a:rPr>
              <a:t>FASE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3327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A237E"/>
                </a:solidFill>
                <a:latin typeface="Cambria"/>
              </a:rPr>
              <a:t>Outliers: no todos se tratan igual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2423160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2423160" cy="1051560"/>
          </a:xfrm>
          <a:prstGeom prst="roundRect">
            <a:avLst>
              <a:gd name="adj" fmla="val 12000"/>
            </a:avLst>
          </a:prstGeom>
          <a:solidFill>
            <a:srgbClr val="374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Eliminación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63240"/>
            <a:ext cx="205740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6B7280"/>
                </a:solidFill>
                <a:latin typeface="Calibri"/>
              </a:rPr>
              <a:t>Solo si es un error real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6B7280"/>
                </a:solidFill>
                <a:latin typeface="Calibri"/>
              </a:rPr>
              <a:t>(no aplicó en nuestro caso)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828800"/>
            <a:ext cx="2423160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474720" y="1828800"/>
            <a:ext cx="2423160" cy="1051560"/>
          </a:xfrm>
          <a:prstGeom prst="roundRect">
            <a:avLst>
              <a:gd name="adj" fmla="val 12000"/>
            </a:avLst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Transformación
(log)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063240"/>
            <a:ext cx="205740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6B7280"/>
                </a:solidFill>
                <a:latin typeface="Calibri"/>
              </a:rPr>
              <a:t>Facebook, WhatsApp, Instagram: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6B7280"/>
                </a:solidFill>
                <a:latin typeface="Calibri"/>
              </a:rPr>
              <a:t>se comprime la escala, no se borra el dato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828800"/>
            <a:ext cx="2423160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126480" y="1828800"/>
            <a:ext cx="2423160" cy="1051560"/>
          </a:xfrm>
          <a:prstGeom prst="roundRect">
            <a:avLst>
              <a:gd name="adj" fmla="val 12000"/>
            </a:avLst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Capping
(recorte)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3063240"/>
            <a:ext cx="2057400" cy="6771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 dirty="0" err="1">
                <a:solidFill>
                  <a:srgbClr val="6B7280"/>
                </a:solidFill>
                <a:latin typeface="Calibri"/>
              </a:rPr>
              <a:t>Demostrado</a:t>
            </a:r>
            <a:r>
              <a:rPr sz="1250" b="0" i="0" dirty="0">
                <a:solidFill>
                  <a:srgbClr val="6B7280"/>
                </a:solidFill>
                <a:latin typeface="Calibri"/>
              </a:rPr>
              <a:t> al </a:t>
            </a:r>
            <a:r>
              <a:rPr sz="1250" b="0" i="0" dirty="0" err="1">
                <a:solidFill>
                  <a:srgbClr val="6B7280"/>
                </a:solidFill>
                <a:latin typeface="Calibri"/>
              </a:rPr>
              <a:t>percentil</a:t>
            </a:r>
            <a:r>
              <a:rPr sz="1250" b="0" i="0" dirty="0">
                <a:solidFill>
                  <a:srgbClr val="6B7280"/>
                </a:solidFill>
                <a:latin typeface="Calibri"/>
              </a:rPr>
              <a:t> 99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 dirty="0" err="1">
                <a:solidFill>
                  <a:srgbClr val="6B7280"/>
                </a:solidFill>
                <a:latin typeface="Calibri"/>
              </a:rPr>
              <a:t>como</a:t>
            </a:r>
            <a:r>
              <a:rPr sz="1250" b="0" i="0" dirty="0">
                <a:solidFill>
                  <a:srgbClr val="6B7280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6B7280"/>
                </a:solidFill>
                <a:latin typeface="Calibri"/>
              </a:rPr>
              <a:t>técnica</a:t>
            </a:r>
            <a:r>
              <a:rPr sz="1250" b="0" i="0" dirty="0">
                <a:solidFill>
                  <a:srgbClr val="6B7280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6B7280"/>
                </a:solidFill>
                <a:latin typeface="Calibri"/>
              </a:rPr>
              <a:t>alternativa</a:t>
            </a:r>
            <a:r>
              <a:rPr lang="es-419" sz="1250" b="0" i="0" dirty="0">
                <a:solidFill>
                  <a:srgbClr val="6B7280"/>
                </a:solidFill>
                <a:latin typeface="Calibri"/>
              </a:rPr>
              <a:t> (no se aplico tampoco)</a:t>
            </a:r>
            <a:endParaRPr sz="1250" b="0" i="0" dirty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778240" y="1828800"/>
            <a:ext cx="2423160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778240" y="1828800"/>
            <a:ext cx="2423160" cy="1051560"/>
          </a:xfrm>
          <a:prstGeom prst="roundRect">
            <a:avLst>
              <a:gd name="adj" fmla="val 12000"/>
            </a:avLst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Conservación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3063240"/>
            <a:ext cx="2057400" cy="907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 dirty="0">
                <a:solidFill>
                  <a:srgbClr val="6B7280"/>
                </a:solidFill>
                <a:latin typeface="Calibri"/>
              </a:rPr>
              <a:t>Apps "I Am Rich" ($400):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 dirty="0" err="1">
                <a:solidFill>
                  <a:srgbClr val="6B7280"/>
                </a:solidFill>
                <a:latin typeface="Calibri"/>
              </a:rPr>
              <a:t>datos</a:t>
            </a:r>
            <a:r>
              <a:rPr sz="1250" b="0" i="0" dirty="0">
                <a:solidFill>
                  <a:srgbClr val="6B7280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6B7280"/>
                </a:solidFill>
                <a:latin typeface="Calibri"/>
              </a:rPr>
              <a:t>reales</a:t>
            </a:r>
            <a:r>
              <a:rPr sz="1250" b="0" i="0" dirty="0">
                <a:solidFill>
                  <a:srgbClr val="6B7280"/>
                </a:solidFill>
                <a:latin typeface="Calibri"/>
              </a:rPr>
              <a:t>, se </a:t>
            </a:r>
            <a:r>
              <a:rPr sz="1250" b="0" i="0" dirty="0" err="1">
                <a:solidFill>
                  <a:srgbClr val="6B7280"/>
                </a:solidFill>
                <a:latin typeface="Calibri"/>
              </a:rPr>
              <a:t>documentan</a:t>
            </a:r>
            <a:r>
              <a:rPr sz="1250" b="0" i="0" dirty="0">
                <a:solidFill>
                  <a:srgbClr val="6B7280"/>
                </a:solidFill>
                <a:latin typeface="Calibri"/>
              </a:rPr>
              <a:t> y se </a:t>
            </a:r>
            <a:r>
              <a:rPr sz="1250" b="0" i="0" dirty="0" err="1">
                <a:solidFill>
                  <a:srgbClr val="6B7280"/>
                </a:solidFill>
                <a:latin typeface="Calibri"/>
              </a:rPr>
              <a:t>guardan</a:t>
            </a:r>
            <a:r>
              <a:rPr lang="es-419" sz="1250" b="0" i="0" dirty="0">
                <a:solidFill>
                  <a:srgbClr val="6B7280"/>
                </a:solidFill>
                <a:latin typeface="Calibri"/>
              </a:rPr>
              <a:t> (aunque sean anormales)</a:t>
            </a:r>
            <a:endParaRPr sz="1250" b="0" i="0" dirty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2860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34A853"/>
                </a:solidFill>
                <a:latin typeface="Calibri"/>
              </a:rPr>
              <a:t>FASE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3327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1A237E"/>
                </a:solidFill>
                <a:latin typeface="Cambria"/>
              </a:rPr>
              <a:t>Más instalaciones, más reseñas — pero no más calidad</a:t>
            </a:r>
          </a:p>
        </p:txBody>
      </p:sp>
      <p:pic>
        <p:nvPicPr>
          <p:cNvPr id="5" name="Picture 4" descr="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37360"/>
            <a:ext cx="6217920" cy="3860992"/>
          </a:xfrm>
          <a:prstGeom prst="rect">
            <a:avLst/>
          </a:prstGeom>
        </p:spPr>
      </p:pic>
      <p:pic>
        <p:nvPicPr>
          <p:cNvPr id="6" name="Picture 5" descr="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1600200"/>
            <a:ext cx="4114800" cy="345112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989320"/>
            <a:ext cx="10332720" cy="600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1" dirty="0">
                <a:solidFill>
                  <a:srgbClr val="37474F"/>
                </a:solidFill>
                <a:latin typeface="Calibri"/>
              </a:rPr>
              <a:t>Reviews e Installs </a:t>
            </a:r>
            <a:r>
              <a:rPr sz="1300" b="0" i="1" dirty="0" err="1">
                <a:solidFill>
                  <a:srgbClr val="37474F"/>
                </a:solidFill>
                <a:latin typeface="Calibri"/>
              </a:rPr>
              <a:t>correlacionan</a:t>
            </a:r>
            <a:r>
              <a:rPr sz="1300" b="0" i="1" dirty="0">
                <a:solidFill>
                  <a:srgbClr val="37474F"/>
                </a:solidFill>
                <a:latin typeface="Calibri"/>
              </a:rPr>
              <a:t> </a:t>
            </a:r>
            <a:r>
              <a:rPr sz="1300" b="0" i="1" dirty="0" err="1">
                <a:solidFill>
                  <a:srgbClr val="37474F"/>
                </a:solidFill>
                <a:latin typeface="Calibri"/>
              </a:rPr>
              <a:t>fuerte</a:t>
            </a:r>
            <a:r>
              <a:rPr lang="es-419" sz="1300" b="0" i="1" dirty="0">
                <a:solidFill>
                  <a:srgbClr val="37474F"/>
                </a:solidFill>
                <a:latin typeface="Calibri"/>
              </a:rPr>
              <a:t>mente</a:t>
            </a:r>
            <a:r>
              <a:rPr sz="1300" b="0" i="1" dirty="0">
                <a:solidFill>
                  <a:srgbClr val="37474F"/>
                </a:solidFill>
                <a:latin typeface="Calibri"/>
              </a:rPr>
              <a:t> (0.63). El Rating </a:t>
            </a:r>
            <a:r>
              <a:rPr sz="1300" b="0" i="1" dirty="0" err="1">
                <a:solidFill>
                  <a:srgbClr val="37474F"/>
                </a:solidFill>
                <a:latin typeface="Calibri"/>
              </a:rPr>
              <a:t>casi</a:t>
            </a:r>
            <a:r>
              <a:rPr sz="1300" b="0" i="1" dirty="0">
                <a:solidFill>
                  <a:srgbClr val="37474F"/>
                </a:solidFill>
                <a:latin typeface="Calibri"/>
              </a:rPr>
              <a:t> no se </a:t>
            </a:r>
            <a:r>
              <a:rPr sz="1300" b="0" i="1" dirty="0" err="1">
                <a:solidFill>
                  <a:srgbClr val="37474F"/>
                </a:solidFill>
                <a:latin typeface="Calibri"/>
              </a:rPr>
              <a:t>correlaciona</a:t>
            </a:r>
            <a:r>
              <a:rPr sz="1300" b="0" i="1" dirty="0">
                <a:solidFill>
                  <a:srgbClr val="37474F"/>
                </a:solidFill>
                <a:latin typeface="Calibri"/>
              </a:rPr>
              <a:t> con nada: la </a:t>
            </a:r>
            <a:r>
              <a:rPr sz="1300" b="0" i="1" dirty="0" err="1">
                <a:solidFill>
                  <a:srgbClr val="37474F"/>
                </a:solidFill>
                <a:latin typeface="Calibri"/>
              </a:rPr>
              <a:t>calidad</a:t>
            </a:r>
            <a:r>
              <a:rPr sz="1300" b="0" i="1" dirty="0">
                <a:solidFill>
                  <a:srgbClr val="37474F"/>
                </a:solidFill>
                <a:latin typeface="Calibri"/>
              </a:rPr>
              <a:t> </a:t>
            </a:r>
            <a:r>
              <a:rPr sz="1300" b="0" i="1" dirty="0" err="1">
                <a:solidFill>
                  <a:srgbClr val="37474F"/>
                </a:solidFill>
                <a:latin typeface="Calibri"/>
              </a:rPr>
              <a:t>percibida</a:t>
            </a:r>
            <a:r>
              <a:rPr sz="1300" b="0" i="1" dirty="0">
                <a:solidFill>
                  <a:srgbClr val="37474F"/>
                </a:solidFill>
                <a:latin typeface="Calibri"/>
              </a:rPr>
              <a:t> </a:t>
            </a:r>
            <a:r>
              <a:rPr lang="es-419" sz="1300" b="0" i="1" dirty="0">
                <a:solidFill>
                  <a:srgbClr val="37474F"/>
                </a:solidFill>
                <a:latin typeface="Calibri"/>
              </a:rPr>
              <a:t>de las apps </a:t>
            </a:r>
            <a:r>
              <a:rPr sz="1300" b="0" i="1" dirty="0">
                <a:solidFill>
                  <a:srgbClr val="37474F"/>
                </a:solidFill>
                <a:latin typeface="Calibri"/>
              </a:rPr>
              <a:t>es </a:t>
            </a:r>
            <a:r>
              <a:rPr sz="1300" b="0" i="1" dirty="0" err="1">
                <a:solidFill>
                  <a:srgbClr val="37474F"/>
                </a:solidFill>
                <a:latin typeface="Calibri"/>
              </a:rPr>
              <a:t>independiente</a:t>
            </a:r>
            <a:r>
              <a:rPr sz="1300" b="0" i="1" dirty="0">
                <a:solidFill>
                  <a:srgbClr val="37474F"/>
                </a:solidFill>
                <a:latin typeface="Calibri"/>
              </a:rPr>
              <a:t> del </a:t>
            </a:r>
            <a:r>
              <a:rPr sz="1300" b="0" i="1" dirty="0" err="1">
                <a:solidFill>
                  <a:srgbClr val="37474F"/>
                </a:solidFill>
                <a:latin typeface="Calibri"/>
              </a:rPr>
              <a:t>tamaño</a:t>
            </a:r>
            <a:r>
              <a:rPr sz="1300" b="0" i="1" dirty="0">
                <a:solidFill>
                  <a:srgbClr val="37474F"/>
                </a:solidFill>
                <a:latin typeface="Calibri"/>
              </a:rPr>
              <a:t>, </a:t>
            </a:r>
            <a:r>
              <a:rPr sz="1300" b="0" i="1" dirty="0" err="1">
                <a:solidFill>
                  <a:srgbClr val="37474F"/>
                </a:solidFill>
                <a:latin typeface="Calibri"/>
              </a:rPr>
              <a:t>precio</a:t>
            </a:r>
            <a:r>
              <a:rPr sz="1300" b="0" i="1" dirty="0">
                <a:solidFill>
                  <a:srgbClr val="37474F"/>
                </a:solidFill>
                <a:latin typeface="Calibri"/>
              </a:rPr>
              <a:t> o </a:t>
            </a:r>
            <a:r>
              <a:rPr sz="1300" b="0" i="1" dirty="0" err="1">
                <a:solidFill>
                  <a:srgbClr val="37474F"/>
                </a:solidFill>
                <a:latin typeface="Calibri"/>
              </a:rPr>
              <a:t>popularidad</a:t>
            </a:r>
            <a:r>
              <a:rPr sz="1300" b="0" i="1" dirty="0">
                <a:solidFill>
                  <a:srgbClr val="37474F"/>
                </a:solidFill>
                <a:latin typeface="Calibri"/>
              </a:rPr>
              <a:t>.</a:t>
            </a:r>
            <a:endParaRPr lang="es-419" sz="1300" b="0" i="1" dirty="0">
              <a:solidFill>
                <a:srgbClr val="37474F"/>
              </a:solidFill>
              <a:latin typeface="Calibri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CO" sz="1300" i="1" dirty="0">
                <a:solidFill>
                  <a:srgbClr val="37474F"/>
                </a:solidFill>
                <a:latin typeface="Calibri"/>
              </a:rPr>
              <a:t>En el tipo de app, desconocido es esa carencia de informacion en los datos, apps que nunca especificaron si son o no pagas.</a:t>
            </a:r>
            <a:endParaRPr sz="1300" b="0" i="1" dirty="0">
              <a:solidFill>
                <a:srgbClr val="37474F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34A853"/>
                </a:solidFill>
                <a:latin typeface="Calibri"/>
              </a:rPr>
              <a:t>FASE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3327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mbria"/>
              </a:rPr>
              <a:t>Modelo predictivo: regresión lineal para el Rating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329184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6B7280"/>
                </a:solidFill>
                <a:latin typeface="Calibri"/>
              </a:rPr>
              <a:t>R²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23160"/>
            <a:ext cx="32918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4400" b="1" i="0">
                <a:solidFill>
                  <a:srgbClr val="EA4335"/>
                </a:solidFill>
                <a:latin typeface="Cambria"/>
              </a:rPr>
              <a:t>0.088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429000"/>
            <a:ext cx="3291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37474F"/>
                </a:solidFill>
                <a:latin typeface="Calibri"/>
              </a:rPr>
              <a:t>solo explica 8.8% de la variación del Rating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28800"/>
            <a:ext cx="329184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89120" y="201168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6B7280"/>
                </a:solidFill>
                <a:latin typeface="Calibri"/>
              </a:rPr>
              <a:t>MAE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423160"/>
            <a:ext cx="32918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4400" b="1" i="0">
                <a:solidFill>
                  <a:srgbClr val="EA4335"/>
                </a:solidFill>
                <a:latin typeface="Cambria"/>
              </a:rPr>
              <a:t>0.37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3429000"/>
            <a:ext cx="3291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37474F"/>
                </a:solidFill>
                <a:latin typeface="Calibri"/>
              </a:rPr>
              <a:t>error promedio de ~1/3 de punto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1828800"/>
            <a:ext cx="329184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55280" y="201168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6B7280"/>
                </a:solidFill>
                <a:latin typeface="Calibri"/>
              </a:rPr>
              <a:t>RMSE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0" y="2423160"/>
            <a:ext cx="32918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4400" b="1" i="0">
                <a:solidFill>
                  <a:srgbClr val="EA4335"/>
                </a:solidFill>
                <a:latin typeface="Cambria"/>
              </a:rPr>
              <a:t>0.54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0" y="3429000"/>
            <a:ext cx="3291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37474F"/>
                </a:solidFill>
                <a:latin typeface="Calibri"/>
              </a:rPr>
              <a:t>error cuadrático medio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434840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CADCFC"/>
                </a:solidFill>
                <a:latin typeface="Calibri"/>
              </a:rPr>
              <a:t>Variables usadas: Reviews (log), Installs (log), Size, Price  ·  80% entrenamiento / 20% prueba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937760"/>
            <a:ext cx="1033272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1">
                <a:solidFill>
                  <a:srgbClr val="FFFFFF"/>
                </a:solidFill>
                <a:latin typeface="Calibri"/>
              </a:rPr>
              <a:t>Conclusión honesta: el modelo es débil a propósito de un hallazgo real, no de un error. Ni el tamaño, ni el precio, ni la popularidad predicen bien la calidad percibida — hacen falta datos que este dataset no tiene (estabilidad, soporte, experiencia de uso).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34A853"/>
                </a:solidFill>
                <a:latin typeface="Calibri"/>
              </a:rPr>
              <a:t>FASE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1A237E"/>
                </a:solidFill>
                <a:latin typeface="Cambria"/>
              </a:rPr>
              <a:t>¿Y esto para qué me sirve como ingeniero de sistemas?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1874519"/>
            <a:ext cx="594360" cy="594360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828799"/>
            <a:ext cx="9509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1A237E"/>
                </a:solidFill>
                <a:latin typeface="Cambria"/>
              </a:rPr>
              <a:t>Benchmarking de producto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2313431"/>
            <a:ext cx="95097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Replicar este análisis sobre la competencia antes de lanzar o mejorar una app propia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3291839"/>
            <a:ext cx="594360" cy="594360"/>
          </a:xfrm>
          <a:prstGeom prst="ellipse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3246119"/>
            <a:ext cx="9509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1A237E"/>
                </a:solidFill>
                <a:latin typeface="Cambria"/>
              </a:rPr>
              <a:t>Estrategia de precios basada en datos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3730751"/>
            <a:ext cx="95097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El precio no se correlaciona con Rating ni Installs: no asumir, testear con datos propios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4709159"/>
            <a:ext cx="594360" cy="594360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4663439"/>
            <a:ext cx="9509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1A237E"/>
                </a:solidFill>
                <a:latin typeface="Cambria"/>
              </a:rPr>
              <a:t>Calidad de datos en pipelines reales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5148071"/>
            <a:ext cx="95097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Anticipar filas corruptas, duplicados e inconsistencias lógicas en cualquier sistema que consuma datos externos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800</Words>
  <Application>Microsoft Macintosh PowerPoint</Application>
  <PresentationFormat>Widescreen</PresentationFormat>
  <Paragraphs>151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MERY ELEN ZAWADY CADAVID</cp:lastModifiedBy>
  <cp:revision>2</cp:revision>
  <dcterms:created xsi:type="dcterms:W3CDTF">2013-01-27T09:14:16Z</dcterms:created>
  <dcterms:modified xsi:type="dcterms:W3CDTF">2026-09-15T07:25:34Z</dcterms:modified>
  <cp:category/>
</cp:coreProperties>
</file>