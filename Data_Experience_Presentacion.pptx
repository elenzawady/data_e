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Rating promedio</c:v>
                </c:pt>
              </c:strCache>
            </c:strRef>
          </c:tx>
          <c:spPr>
            <a:solidFill>
              <a:srgbClr val="34A853"/>
            </a:solidFill>
          </c:spPr>
          <c:cat>
            <c:strRef>
              <c:f>Sheet1!$A$2:$A$11</c:f>
              <c:strCache>
                <c:ptCount val="10"/>
                <c:pt idx="0">
                  <c:v>PERSONALIZATION</c:v>
                </c:pt>
                <c:pt idx="1">
                  <c:v>GAME</c:v>
                </c:pt>
                <c:pt idx="2">
                  <c:v>SPORTS</c:v>
                </c:pt>
                <c:pt idx="3">
                  <c:v>FAMILY</c:v>
                </c:pt>
                <c:pt idx="4">
                  <c:v>PRODUCTIVITY</c:v>
                </c:pt>
                <c:pt idx="5">
                  <c:v>MEDICAL</c:v>
                </c:pt>
                <c:pt idx="6">
                  <c:v>FINANCE</c:v>
                </c:pt>
                <c:pt idx="7">
                  <c:v>BUSINESS</c:v>
                </c:pt>
                <c:pt idx="8">
                  <c:v>LIFESTYLE</c:v>
                </c:pt>
                <c:pt idx="9">
                  <c:v>TOOLS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4.33</c:v>
                </c:pt>
                <c:pt idx="1">
                  <c:v>4.24</c:v>
                </c:pt>
                <c:pt idx="2">
                  <c:v>4.22</c:v>
                </c:pt>
                <c:pt idx="3">
                  <c:v>4.18</c:v>
                </c:pt>
                <c:pt idx="4">
                  <c:v>4.18</c:v>
                </c:pt>
                <c:pt idx="5">
                  <c:v>4.17</c:v>
                </c:pt>
                <c:pt idx="6">
                  <c:v>4.12</c:v>
                </c:pt>
                <c:pt idx="7">
                  <c:v>4.1</c:v>
                </c:pt>
                <c:pt idx="8">
                  <c:v>4.09</c:v>
                </c:pt>
                <c:pt idx="9">
                  <c:v>4.04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37474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0D0D0"/>
            </a:solidFill>
          </a:ln>
        </c:spPr>
        <c:txPr>
          <a:bodyPr/>
          <a:lstStyle/>
          <a:p>
            <a:pPr>
              <a:defRPr sz="1000">
                <a:solidFill>
                  <a:srgbClr val="37474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5"/>
          <c:min val="3.8"/>
        </c:scaling>
        <c:delete val="0"/>
        <c:axPos val="b"/>
        <c:majorGridlines>
          <c:spPr>
            <a:ln>
              <a:solidFill>
                <a:srgbClr val="E8E8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37474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822960"/>
            <a:ext cx="502920" cy="5029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Google Play Store: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Radiografía de un mercado desigual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1">
                <a:solidFill>
                  <a:srgbClr val="CADCFC"/>
                </a:solidFill>
                <a:latin typeface="Calibri"/>
              </a:rPr>
              <a:t>Selección, limpieza, análisis estadístico y modelo predictivo sobre datos reales de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Elen Zawady  ·  [Nombre compañera]  ·  [Nombre compañero]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B0BEE8"/>
                </a:solidFill>
                <a:latin typeface="Calibri"/>
              </a:rPr>
              <a:t>Data Experience — Ingeniería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A237E"/>
                </a:solidFill>
                <a:latin typeface="Cambria"/>
              </a:rPr>
              <a:t>Tres fases, una sola historia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3429000" cy="384048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2057400"/>
            <a:ext cx="685800" cy="68580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7180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A237E"/>
                </a:solidFill>
                <a:latin typeface="Cambria"/>
              </a:rPr>
              <a:t>Selección, exploración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A237E"/>
                </a:solidFill>
                <a:latin typeface="Cambria"/>
              </a:rPr>
              <a:t>y preparación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114800"/>
            <a:ext cx="2788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Dataset real, problemas detectados y limpieza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737360"/>
            <a:ext cx="3429000" cy="384048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92040" y="2057400"/>
            <a:ext cx="685800" cy="685800"/>
          </a:xfrm>
          <a:prstGeom prst="ellipse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97180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A237E"/>
                </a:solidFill>
                <a:latin typeface="Cambria"/>
              </a:rPr>
              <a:t>Análisis estadístico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4114800"/>
            <a:ext cx="2788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Tendencia central, dispersión y outliers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737360"/>
            <a:ext cx="3429000" cy="384048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41080" y="2057400"/>
            <a:ext cx="685800" cy="68580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97180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A237E"/>
                </a:solidFill>
                <a:latin typeface="Cambria"/>
              </a:rPr>
              <a:t>Visualización, storytelling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A237E"/>
                </a:solidFill>
                <a:latin typeface="Cambria"/>
              </a:rPr>
              <a:t>y modelo predictivo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114800"/>
            <a:ext cx="2788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Gráficos, regresión lineal y aplicación profesional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237E"/>
                </a:solidFill>
                <a:latin typeface="Cambria"/>
              </a:rPr>
              <a:t>¿Por qué Google Play Store?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237E"/>
                </a:solidFill>
                <a:latin typeface="Cambria"/>
              </a:rPr>
              <a:t>El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44805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05000"/>
              </a:lnSpc>
              <a:spcAft>
                <a:spcPts val="1400"/>
              </a:spcAft>
              <a:buClr>
                <a:srgbClr val="34A853"/>
              </a:buClr>
              <a:buFont typeface="Arial"/>
              <a:buChar char="●"/>
            </a:pPr>
            <a:r>
              <a:rPr sz="1500">
                <a:solidFill>
                  <a:srgbClr val="37474F"/>
                </a:solidFill>
                <a:latin typeface="Calibri"/>
              </a:rPr>
              <a:t>Google Play Store Apps (Kaggle)</a:t>
            </a:r>
          </a:p>
          <a:p>
            <a:pPr algn="l" marL="228600" indent="-228600">
              <a:lnSpc>
                <a:spcPct val="105000"/>
              </a:lnSpc>
              <a:spcAft>
                <a:spcPts val="1400"/>
              </a:spcAft>
              <a:buClr>
                <a:srgbClr val="34A853"/>
              </a:buClr>
              <a:buFont typeface="Arial"/>
              <a:buChar char="●"/>
            </a:pPr>
            <a:r>
              <a:rPr sz="1500">
                <a:solidFill>
                  <a:srgbClr val="37474F"/>
                </a:solidFill>
                <a:latin typeface="Calibri"/>
              </a:rPr>
              <a:t>10,841 apps · 13 columnas</a:t>
            </a:r>
          </a:p>
          <a:p>
            <a:pPr algn="l" marL="228600" indent="-228600">
              <a:lnSpc>
                <a:spcPct val="105000"/>
              </a:lnSpc>
              <a:spcAft>
                <a:spcPts val="1400"/>
              </a:spcAft>
              <a:buClr>
                <a:srgbClr val="34A853"/>
              </a:buClr>
              <a:buFont typeface="Arial"/>
              <a:buChar char="●"/>
            </a:pPr>
            <a:r>
              <a:rPr sz="1500">
                <a:solidFill>
                  <a:srgbClr val="37474F"/>
                </a:solidFill>
                <a:latin typeface="Calibri"/>
              </a:rPr>
              <a:t>Categoría, calificación, reseñas, instalaciones, tamaño, precio, versión de Android</a:t>
            </a:r>
          </a:p>
          <a:p>
            <a:pPr algn="l" marL="228600" indent="-228600">
              <a:lnSpc>
                <a:spcPct val="105000"/>
              </a:lnSpc>
              <a:spcAft>
                <a:spcPts val="1400"/>
              </a:spcAft>
              <a:buClr>
                <a:srgbClr val="34A853"/>
              </a:buClr>
              <a:buFont typeface="Arial"/>
              <a:buChar char="●"/>
            </a:pPr>
            <a:r>
              <a:rPr sz="1500">
                <a:solidFill>
                  <a:srgbClr val="37474F"/>
                </a:solidFill>
                <a:latin typeface="Calibri"/>
              </a:rPr>
              <a:t>Dataset real y público, no simulado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Justificación profesional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44805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05000"/>
              </a:lnSpc>
              <a:spcAft>
                <a:spcPts val="1300"/>
              </a:spcAft>
              <a:buClr>
                <a:srgbClr val="34A853"/>
              </a:buClr>
              <a:buFont typeface="Arial"/>
              <a:buChar char="●"/>
            </a:pPr>
            <a:r>
              <a:rPr sz="1500">
                <a:solidFill>
                  <a:srgbClr val="E3E7F7"/>
                </a:solidFill>
                <a:latin typeface="Calibri"/>
              </a:rPr>
              <a:t>Conecta con el ciclo de vida real del software</a:t>
            </a:r>
          </a:p>
          <a:p>
            <a:pPr algn="l" marL="228600" indent="-228600">
              <a:lnSpc>
                <a:spcPct val="105000"/>
              </a:lnSpc>
              <a:spcAft>
                <a:spcPts val="1300"/>
              </a:spcAft>
              <a:buClr>
                <a:srgbClr val="34A853"/>
              </a:buClr>
              <a:buFont typeface="Arial"/>
              <a:buChar char="●"/>
            </a:pPr>
            <a:r>
              <a:rPr sz="1500">
                <a:solidFill>
                  <a:srgbClr val="E3E7F7"/>
                </a:solidFill>
                <a:latin typeface="Calibri"/>
              </a:rPr>
              <a:t>Calidad de datos en catálogos de apps</a:t>
            </a:r>
          </a:p>
          <a:p>
            <a:pPr algn="l" marL="228600" indent="-228600">
              <a:lnSpc>
                <a:spcPct val="105000"/>
              </a:lnSpc>
              <a:spcAft>
                <a:spcPts val="1300"/>
              </a:spcAft>
              <a:buClr>
                <a:srgbClr val="34A853"/>
              </a:buClr>
              <a:buFont typeface="Arial"/>
              <a:buChar char="●"/>
            </a:pPr>
            <a:r>
              <a:rPr sz="1500">
                <a:solidFill>
                  <a:srgbClr val="E3E7F7"/>
                </a:solidFill>
                <a:latin typeface="Calibri"/>
              </a:rPr>
              <a:t>Modelos de monetización (gratis vs. pagas)</a:t>
            </a:r>
          </a:p>
          <a:p>
            <a:pPr algn="l" marL="228600" indent="-228600">
              <a:lnSpc>
                <a:spcPct val="105000"/>
              </a:lnSpc>
              <a:spcAft>
                <a:spcPts val="1300"/>
              </a:spcAft>
              <a:buClr>
                <a:srgbClr val="34A853"/>
              </a:buClr>
              <a:buFont typeface="Arial"/>
              <a:buChar char="●"/>
            </a:pPr>
            <a:r>
              <a:rPr sz="1500">
                <a:solidFill>
                  <a:srgbClr val="E3E7F7"/>
                </a:solidFill>
                <a:latin typeface="Calibri"/>
              </a:rPr>
              <a:t>Compatibilidad de versiones de Android</a:t>
            </a:r>
          </a:p>
          <a:p>
            <a:pPr algn="l" marL="228600" indent="-228600">
              <a:lnSpc>
                <a:spcPct val="105000"/>
              </a:lnSpc>
              <a:spcAft>
                <a:spcPts val="1300"/>
              </a:spcAft>
              <a:buClr>
                <a:srgbClr val="34A853"/>
              </a:buClr>
              <a:buFont typeface="Arial"/>
              <a:buChar char="●"/>
            </a:pPr>
            <a:r>
              <a:rPr sz="1500">
                <a:solidFill>
                  <a:srgbClr val="E3E7F7"/>
                </a:solidFill>
                <a:latin typeface="Calibri"/>
              </a:rPr>
              <a:t>Comportamiento real de usuarios a escala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A237E"/>
                </a:solidFill>
                <a:latin typeface="Cambria"/>
              </a:rPr>
              <a:t>Lo que encontramos al explorar los datos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8308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237E"/>
                </a:solidFill>
                <a:latin typeface="Cambria"/>
              </a:rPr>
              <a:t>1 fila corrupta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286000"/>
            <a:ext cx="4389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Índice 10472: falta el valor de Categoría y todas las columnas quedaron corridas</a:t>
            </a:r>
          </a:p>
        </p:txBody>
      </p:sp>
      <p:sp>
        <p:nvSpPr>
          <p:cNvPr id="8" name="Oval 7"/>
          <p:cNvSpPr/>
          <p:nvPr/>
        </p:nvSpPr>
        <p:spPr>
          <a:xfrm>
            <a:off x="6217920" y="1828800"/>
            <a:ext cx="640080" cy="640080"/>
          </a:xfrm>
          <a:prstGeom prst="ellipse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78308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237E"/>
                </a:solidFill>
                <a:latin typeface="Cambria"/>
              </a:rPr>
              <a:t>483 duplicados exactos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286000"/>
            <a:ext cx="4389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+ 1,181 apps con el nombre repetido en distintas filas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977640"/>
            <a:ext cx="640080" cy="6400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93192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237E"/>
                </a:solidFill>
                <a:latin typeface="Cambria"/>
              </a:rPr>
              <a:t>1,474 nulos en Rating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434840"/>
            <a:ext cx="4389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Apps sin suficientes calificaciones todavía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3977640"/>
            <a:ext cx="640080" cy="640080"/>
          </a:xfrm>
          <a:prstGeom prst="ellipse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93192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237E"/>
                </a:solidFill>
                <a:latin typeface="Cambria"/>
              </a:rPr>
              <a:t>Números guardados como texto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434840"/>
            <a:ext cx="4389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Installs "10,000+", Price "$4.99", Size "19M" / "Varies with device"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A237E"/>
                </a:solidFill>
                <a:latin typeface="Cambria"/>
              </a:rPr>
              <a:t>Dataset depurado y listo para analizar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3832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EA4335"/>
                </a:solidFill>
                <a:latin typeface="Cambria"/>
              </a:rPr>
              <a:t>10,841 → 9,659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filas después de limpiar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11680"/>
            <a:ext cx="33832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46888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A237E"/>
                </a:solidFill>
                <a:latin typeface="Cambria"/>
              </a:rPr>
              <a:t>483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65760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duplicados exactos eliminados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3832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46888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34A853"/>
                </a:solidFill>
                <a:latin typeface="Cambr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65760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columnas convertidas a numéricas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(Installs, Price, Size, Reviews)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37474F"/>
                </a:solidFill>
                <a:latin typeface="Calibri"/>
              </a:rPr>
              <a:t>Nota: los Rating faltantes NO se rellenaron con un promedio inventado — se documentan como limitación real del dataset.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A237E"/>
                </a:solidFill>
                <a:latin typeface="Cambria"/>
              </a:rPr>
              <a:t>Medidas descriptivas de las variables clave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74519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011680"/>
                <a:gridCol w="2011680"/>
                <a:gridCol w="201168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109728" marT="54864" marB="54864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109728" marT="54864" marB="54864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Mediana</a:t>
                      </a:r>
                    </a:p>
                  </a:txBody>
                  <a:tcPr marL="109728" marT="54864" marB="54864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Moda</a:t>
                      </a:r>
                    </a:p>
                  </a:txBody>
                  <a:tcPr marL="109728" marT="54864" marB="54864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Desv. estándar</a:t>
                      </a:r>
                    </a:p>
                  </a:txBody>
                  <a:tcPr marL="109728" marT="54864" marB="54864" anchor="ctr">
                    <a:solidFill>
                      <a:srgbClr val="1A237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37E"/>
                          </a:solidFill>
                          <a:latin typeface="Calibri"/>
                        </a:rPr>
                        <a:t>Rating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4.17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4.30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4.30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37E"/>
                          </a:solidFill>
                          <a:latin typeface="Calibri"/>
                        </a:rPr>
                        <a:t>Reviews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216,804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969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1,831,430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37E"/>
                          </a:solidFill>
                          <a:latin typeface="Calibri"/>
                        </a:rPr>
                        <a:t>Installs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7,798,170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100,000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1,000,000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53,769,729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37E"/>
                          </a:solidFill>
                          <a:latin typeface="Calibri"/>
                        </a:rPr>
                        <a:t>Size (MB)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20.4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12.0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74F"/>
                          </a:solidFill>
                          <a:latin typeface="Calibri"/>
                        </a:rPr>
                        <a:t>21.8</a:t>
                      </a:r>
                    </a:p>
                  </a:txBody>
                  <a:tcPr marL="109728" marT="54864" marB="54864" anchor="ctr">
                    <a:solidFill>
                      <a:srgbClr val="F2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617720"/>
            <a:ext cx="103327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05000"/>
              </a:lnSpc>
              <a:spcAft>
                <a:spcPts val="1000"/>
              </a:spcAft>
              <a:buClr>
                <a:srgbClr val="34A853"/>
              </a:buClr>
              <a:buFont typeface="Arial"/>
              <a:buChar char="●"/>
            </a:pPr>
            <a:r>
              <a:rPr sz="1400">
                <a:solidFill>
                  <a:srgbClr val="37474F"/>
                </a:solidFill>
                <a:latin typeface="Calibri"/>
              </a:rPr>
              <a:t>Reviews e Installs: la media es muchísimo mayor que la mediana → pocas apps gigantes (Facebook, WhatsApp) inflan el promedio.</a:t>
            </a:r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Clr>
                <a:srgbClr val="34A853"/>
              </a:buClr>
              <a:buFont typeface="Arial"/>
              <a:buChar char="●"/>
            </a:pPr>
            <a:r>
              <a:rPr sz="1400">
                <a:solidFill>
                  <a:srgbClr val="37474F"/>
                </a:solidFill>
                <a:latin typeface="Calibri"/>
              </a:rPr>
              <a:t>Rating: media, mediana y moda casi iguales y baja dispersión → la mayoría de apps califica parecido, entre 4.0 y 4.5.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Gratis vs. Pagas: dos mercados distintos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3832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83AB5"/>
                </a:solidFill>
                <a:latin typeface="Cambria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1A237E"/>
                </a:solidFill>
                <a:latin typeface="Cambria"/>
              </a:rPr>
              <a:t>4.17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rating promedio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A4335"/>
                </a:solidFill>
                <a:latin typeface="Cambria"/>
              </a:rPr>
              <a:t>8.45M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instalaciones promedio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920240"/>
            <a:ext cx="33832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E8B57"/>
                </a:solidFill>
                <a:latin typeface="Cambria"/>
              </a:rPr>
              <a:t>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74320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1A237E"/>
                </a:solidFill>
                <a:latin typeface="Cambria"/>
              </a:rPr>
              <a:t>4.26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5204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rating promedio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11480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A4335"/>
                </a:solidFill>
                <a:latin typeface="Cambria"/>
              </a:rPr>
              <a:t>76 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8006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instalaciones promedio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30175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1">
                <a:solidFill>
                  <a:srgbClr val="CADCFC"/>
                </a:solidFill>
                <a:latin typeface="Calibri"/>
              </a:rPr>
              <a:t>Las apps pagas califican levemente mejor, pero las gratuitas dominan por completo el volumen de instalaciones. Pagar es una barrera fuerte para la adopción masiva.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A237E"/>
                </a:solidFill>
                <a:latin typeface="Cambria"/>
              </a:rPr>
              <a:t>Rating promedio por categoría (top 10 más pobladas)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83080"/>
          <a:ext cx="105156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A237E"/>
                </a:solidFill>
                <a:latin typeface="Cambria"/>
              </a:rPr>
              <a:t>Outliers: no todos se tratan igual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4231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423160" cy="1051560"/>
          </a:xfrm>
          <a:prstGeom prst="roundRect">
            <a:avLst>
              <a:gd name="adj" fmla="val 12000"/>
            </a:avLst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Eliminación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20574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Solo si es un error real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(no aplicó en nuestro caso)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231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423160" cy="105156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Transformación
(log)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63240"/>
            <a:ext cx="20574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Facebook, WhatsApp, Instagram: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se comprime la escala, no se borra el dato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24231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423160" cy="105156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Capping
(recorte)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063240"/>
            <a:ext cx="20574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Demostrado al percentil 99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como técnica alternativa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828800"/>
            <a:ext cx="24231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78240" y="1828800"/>
            <a:ext cx="2423160" cy="1051560"/>
          </a:xfrm>
          <a:prstGeom prst="roundRect">
            <a:avLst>
              <a:gd name="adj" fmla="val 12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Conservación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3063240"/>
            <a:ext cx="20574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Apps "I Am Rich" ($400):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datos reales, se documentan y se guardan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A237E"/>
                </a:solidFill>
                <a:latin typeface="Cambria"/>
              </a:rPr>
              <a:t>Más instalaciones, más reseñas — pero no más calidad</a:t>
            </a:r>
          </a:p>
        </p:txBody>
      </p:sp>
      <p:pic>
        <p:nvPicPr>
          <p:cNvPr id="5" name="Picture 4" descr="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217920" cy="3860992"/>
          </a:xfrm>
          <a:prstGeom prst="rect">
            <a:avLst/>
          </a:prstGeom>
        </p:spPr>
      </p:pic>
      <p:pic>
        <p:nvPicPr>
          <p:cNvPr id="6" name="Picture 5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600200"/>
            <a:ext cx="4114800" cy="3451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98932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37474F"/>
                </a:solidFill>
                <a:latin typeface="Calibri"/>
              </a:rPr>
              <a:t>Reviews e Installs correlacionan fuerte (0.63). El Rating casi no se correlaciona con nada: la calidad percibida es independiente del tamaño, precio o popularidad.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Modelo predictivo: regresión lineal para el Rating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6B7280"/>
                </a:solidFill>
                <a:latin typeface="Calibri"/>
              </a:rPr>
              <a:t>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A4335"/>
                </a:solidFill>
                <a:latin typeface="Cambria"/>
              </a:rPr>
              <a:t>0.088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37474F"/>
                </a:solidFill>
                <a:latin typeface="Calibri"/>
              </a:rPr>
              <a:t>solo explica 8.8% de la variación del Rating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6B7280"/>
                </a:solidFill>
                <a:latin typeface="Calibri"/>
              </a:rPr>
              <a:t>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2316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A4335"/>
                </a:solidFill>
                <a:latin typeface="Cambria"/>
              </a:rPr>
              <a:t>0.37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42900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37474F"/>
                </a:solidFill>
                <a:latin typeface="Calibri"/>
              </a:rPr>
              <a:t>error promedio de ~1/3 de punto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82880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20116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6B7280"/>
                </a:solidFill>
                <a:latin typeface="Calibri"/>
              </a:rPr>
              <a:t>RMSE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42316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A4335"/>
                </a:solidFill>
                <a:latin typeface="Cambria"/>
              </a:rPr>
              <a:t>0.54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342900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37474F"/>
                </a:solidFill>
                <a:latin typeface="Calibri"/>
              </a:rPr>
              <a:t>error cuadrático medio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348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Variables usadas: Reviews (log), Installs (log), Size, Price  ·  80% entrenamiento / 20% prueba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FFFFFF"/>
                </a:solidFill>
                <a:latin typeface="Calibri"/>
              </a:rPr>
              <a:t>Conclusión honesta: el modelo es débil a propósito de un hallazgo real, no de un error. Ni el tamaño, ni el precio, ni la popularidad predicen bien la calidad percibida — hacen falta datos que este dataset no tiene (estabilidad, soporte, experiencia de uso).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4A853"/>
                </a:solidFill>
                <a:latin typeface="Calibri"/>
              </a:rPr>
              <a:t>FASE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A237E"/>
                </a:solidFill>
                <a:latin typeface="Cambria"/>
              </a:rPr>
              <a:t>¿Y esto para qué me sirve como ingeniero de sistemas?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874519"/>
            <a:ext cx="594360" cy="59436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828799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237E"/>
                </a:solidFill>
                <a:latin typeface="Cambria"/>
              </a:rPr>
              <a:t>Benchmarking de producto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313431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Replicar este análisis sobre la competencia antes de lanzar o mejorar una app propia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291839"/>
            <a:ext cx="594360" cy="594360"/>
          </a:xfrm>
          <a:prstGeom prst="ellipse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246119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237E"/>
                </a:solidFill>
                <a:latin typeface="Cambria"/>
              </a:rPr>
              <a:t>Estrategia de precios basada en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730751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El precio no se correlaciona con Rating ni Installs: no asumir, testear con datos propios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709159"/>
            <a:ext cx="594360" cy="59436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663439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237E"/>
                </a:solidFill>
                <a:latin typeface="Cambria"/>
              </a:rPr>
              <a:t>Calidad de datos en pipelines reales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5148071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Anticipar filas corruptas, duplicados e inconsistencias lógicas en cualquier sistema que consuma datos externos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Los datos reales vienen sucios,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desiguales y llenos de sorpresas.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1">
                <a:solidFill>
                  <a:srgbClr val="CADCFC"/>
                </a:solidFill>
                <a:latin typeface="Calibri"/>
              </a:rPr>
              <a:t>Saber limpiarlos, medirlos y comunicarlos es lo que los convierte en decisiones.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97680"/>
            <a:ext cx="5669280" cy="1234440"/>
          </a:xfrm>
          <a:prstGeom prst="roundRect">
            <a:avLst>
              <a:gd name="adj" fmla="val 6000"/>
            </a:avLst>
          </a:prstGeom>
          <a:solidFill>
            <a:srgbClr val="283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5262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Repositorio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github.com/ElenZawady/DE_Proyectofinal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Gracias.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